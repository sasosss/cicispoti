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Immagini da Wikimedia Commons (licenze libere): Arco di Traiano (Benevento) — Anna Eden; Vigneto — Markus Bärlocher; Mappa province Campania — Ali1; Vino versato in calice — Flickr/Vinitaly; Filari — John Lord / geograph.org.uk; Cavatelli — Luigi Scorcia; Ragù in cottura — Liat Portal. Rigenera con: python3 scripts/build_benevento_presentation.py</a:t>
            </a:r>
          </a:p>
          <a:p/>
          <a:p>
            <a:r>
              <a:t>Animazioni (PowerPoint): Transizioni → Dissolvenza o Spostamento, 1,0–1,25 s; Animazioni → titoli con Dissolvenza entrata / Scorrimento da basso; tempistiche per effetto documentario.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011" y="0"/>
            <a:ext cx="309092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gradFill rotWithShape="1">
            <a:gsLst>
              <a:gs pos="0">
                <a:srgbClr val="D48A4A"/>
              </a:gs>
              <a:gs pos="100000">
                <a:srgbClr val="8B2E2E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gradFill rotWithShape="1">
            <a:gsLst>
              <a:gs pos="0">
                <a:srgbClr val="5C3A21"/>
              </a:gs>
              <a:gs pos="100000">
                <a:srgbClr val="2A181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AF0E4"/>
                </a:solidFill>
                <a:latin typeface="Georgia"/>
              </a:rPr>
              <a:t>Benevento: terra di storia, vino e sapori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8C47A"/>
                </a:solidFill>
                <a:latin typeface="Calibri Light"/>
              </a:rPr>
              <a:t>◆  Un viaggio tra colline, cantine e tavole campane  ◆</a:t>
            </a:r>
          </a:p>
        </p:txBody>
      </p:sp>
    </p:spTree>
  </p:cSld>
  <p:clrMapOvr>
    <a:masterClrMapping/>
  </p:clrMapOvr>
  <p:transition spd="med" advTm="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l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121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2A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97880" y="0"/>
            <a:ext cx="6291072" cy="6858000"/>
          </a:xfrm>
          <a:prstGeom prst="rect">
            <a:avLst/>
          </a:prstGeom>
          <a:solidFill>
            <a:srgbClr val="FA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72200" y="411480"/>
            <a:ext cx="5806440" cy="608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B2E2E"/>
                </a:solidFill>
                <a:latin typeface="Georgia"/>
              </a:defRPr>
            </a:pPr>
            <a:r>
              <a:t>La provincia di Benevento</a:t>
            </a:r>
          </a:p>
          <a:p>
            <a:pPr>
              <a:lnSpc>
                <a:spcPct val="122000"/>
              </a:lnSpc>
              <a:defRPr sz="1350">
                <a:solidFill>
                  <a:srgbClr val="2A1812"/>
                </a:solidFill>
                <a:latin typeface="Calibri"/>
              </a:defRPr>
            </a:pPr>
            <a:r>
              <a:t>Nel cuore della Campania interna, la provincia di Benevento custodisce millenni di storia e colline morbide punteggiate da uliveti e vigneti: un paesaggio che al tramonto si accende di toni ambra e porpora.</a:t>
            </a:r>
            <a:br/>
            <a:br/>
            <a:r>
              <a:t>Città sannita e poi crocevia romano, Benevento conserva capolavori come l’Arco di Traiano e il complesso longobardo di Santa Sofia (Patrimonio UNESCO). Nelle contrade, il tempo si misura ancora a passi di processione, a calici alzati in cantina e a tavolate che profumano di ragù lungo cottura.</a:t>
            </a:r>
          </a:p>
          <a:p>
            <a:pPr>
              <a:lnSpc>
                <a:spcPct val="120000"/>
              </a:lnSpc>
              <a:defRPr sz="1350" b="1">
                <a:solidFill>
                  <a:srgbClr val="8B2E2E"/>
                </a:solidFill>
                <a:latin typeface="Calibri"/>
              </a:defRPr>
            </a:pPr>
            <a:r>
              <a:t>◆  Storia e cultura: dalle origini sannitiche alla romanità, dal Medioevo longobardo alle pieghe del Sannio contemporaneo — la memoria qui è paesaggio, e il paesaggio è accoglienza.</a:t>
            </a:r>
          </a:p>
          <a:p>
            <a:pPr>
              <a:lnSpc>
                <a:spcPct val="120000"/>
              </a:lnSpc>
              <a:defRPr sz="1350">
                <a:solidFill>
                  <a:srgbClr val="2A1812"/>
                </a:solidFill>
                <a:latin typeface="Calibri"/>
              </a:defRPr>
            </a:pPr>
            <a:r>
              <a:t>◆  Paesaggi collinari: successioni morbide di ulivi e vigneti, borghi arroccati, strade bianche profumate di erba secca dopo la pioggia, e silenzi punteggiati solo dal vento.</a:t>
            </a:r>
          </a:p>
          <a:p>
            <a:pPr>
              <a:lnSpc>
                <a:spcPct val="120000"/>
              </a:lnSpc>
              <a:defRPr sz="1350">
                <a:solidFill>
                  <a:srgbClr val="2A1812"/>
                </a:solidFill>
                <a:latin typeface="Calibri"/>
              </a:defRPr>
            </a:pPr>
            <a:r>
              <a:t>◆  Tradizioni popolari: feste patronali, tarantelle e canti di lavoro, mercati contadini e ricami di pizzi — tutto ciò che ancora oggi «fa comunità» attorno al tavolo e alla piazza.</a:t>
            </a:r>
          </a:p>
        </p:txBody>
      </p:sp>
    </p:spTree>
  </p:cSld>
  <p:clrMapOvr>
    <a:masterClrMapping/>
  </p:clrMapOvr>
  <p:transition spd="med" advTm="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A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mpania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4206240" cy="32502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89204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C3A21"/>
                </a:solidFill>
              </a:defRPr>
            </a:pPr>
            <a:r>
              <a:t>Mappa stilizzata — Campania e Benevento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685800"/>
            <a:ext cx="704088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2E2E"/>
                </a:solidFill>
                <a:latin typeface="Georgia"/>
              </a:defRPr>
            </a:pPr>
            <a:r>
              <a:t>Curiosità: le streghe di Benevento</a:t>
            </a:r>
          </a:p>
          <a:p>
            <a:pPr>
              <a:lnSpc>
                <a:spcPct val="120000"/>
              </a:lnSpc>
              <a:defRPr sz="1500">
                <a:solidFill>
                  <a:srgbClr val="2A1812"/>
                </a:solidFill>
                <a:latin typeface="Calibri"/>
              </a:defRPr>
            </a:pPr>
            <a:r>
              <a:t>Fin dal Medioevo, cronache e leggende hanno associato Benevento a raduni notturni e riti «oltre» la norma cristiana: si parlava di «noce di Benevento» come luogo simbolico d’incontro, e di presenze femminili legate a saperi erboristici, medicina popolare e figure emarginate dalla società del tempo.</a:t>
            </a:r>
            <a:br/>
            <a:br/>
            <a:r>
              <a:t>Oggi quelle narrazioni — filtrate dalla storia e dalla letteratura — diventano patrimonio evocativo: non un manuale di magia, ma un invito a esplorare il mistero delle colline, dei boschi e delle voci tramandate, tra folklore e ironia sannita.</a:t>
            </a:r>
            <a:br/>
            <a:br/>
            <a:r>
              <a:t>◆  Il filo conduttore è sempre lo stesso: una terra che sa raccontare storie al fuoco del camino e al calice di un vino corposo.</a:t>
            </a:r>
          </a:p>
        </p:txBody>
      </p:sp>
    </p:spTree>
  </p:cSld>
  <p:clrMapOvr>
    <a:masterClrMapping/>
  </p:clrMapOvr>
  <p:transition spd="med" advTm="0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ne_gla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0040"/>
            <a:ext cx="5394960" cy="358744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5257800" cy="6035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8C47A"/>
                </a:solidFill>
                <a:latin typeface="Georgia"/>
              </a:defRPr>
            </a:pPr>
            <a:r>
              <a:t>Aglianico del Taburno</a:t>
            </a:r>
          </a:p>
          <a:p>
            <a:pPr>
              <a:lnSpc>
                <a:spcPct val="118000"/>
              </a:lnSpc>
              <a:defRPr sz="1350">
                <a:solidFill>
                  <a:srgbClr val="FAF0E4"/>
                </a:solidFill>
                <a:latin typeface="Calibri"/>
              </a:defRPr>
            </a:pPr>
            <a:r>
              <a:t>Origine e territorio</a:t>
            </a:r>
            <a:br/>
            <a:r>
              <a:t>L’Aglianico del Taburno nasce sulle pendici del massiccio vulcanico del Taburno–Camposauro, tra suoli ricchi di minerali e brezze che favoriscono lente maturazioni. Il disciplinare valorizza un legame stretto tra varietà autoctona, altitudine e microclima collinare.</a:t>
            </a:r>
            <a:br/>
            <a:br/>
            <a:r>
              <a:t>Carattere in cantina</a:t>
            </a:r>
            <a:br/>
            <a:r>
              <a:t>Struttura importante, tannini presenti ma nobili nel tempo, grande acidità che sostiene l’invecchiamento: è un vino da «aspettare», capace di raccontare annate e cantine con eleganza quasi cinematografica.</a:t>
            </a:r>
            <a:br/>
            <a:br/>
            <a:r>
              <a:t>Sensorialità e tavola</a:t>
            </a:r>
            <a:br/>
            <a:r>
              <a:t>Colore rubino intenso con riflessi granati dopo gli anni. Profumi di frutta nera matura, spezie dolci, tabacco, sottobosco e, spesso, note vulcaniche. In abbinamento: carni rosse alla brace, selvaggina, funghi porcini, formaggi stagionati e — naturalmente — i ragù lenti della tradizione beneventana.</a:t>
            </a:r>
          </a:p>
        </p:txBody>
      </p:sp>
    </p:spTree>
  </p:cSld>
  <p:clrMapOvr>
    <a:masterClrMapping/>
  </p:clrMapOvr>
  <p:transition spd="med" advTm="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neyard_row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E8C47A"/>
                </a:solidFill>
                <a:latin typeface="Georgia"/>
              </a:defRPr>
            </a:pPr>
            <a:r>
              <a:t>◆  Filari al tramonto  —  l’orchestra silenziosa del Taburno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4924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AF0E4"/>
                </a:solidFill>
                <a:latin typeface="Calibri"/>
              </a:defRPr>
            </a:pPr>
            <a:r>
              <a:t>Camminare tra i vigneti significa respirare terra bollente, sentire il fruscio delle foglie e intuire, nell’aria, il profumo che diventerà — mesi dopo — bouquet in bicchiere. È il capitolo visivo di un mini-documentario che profuma di mosto e di sole al tramonto.</a:t>
            </a:r>
          </a:p>
        </p:txBody>
      </p:sp>
    </p:spTree>
  </p:cSld>
  <p:clrMapOvr>
    <a:masterClrMapping/>
  </p:clrMapOvr>
  <p:transition spd="med" advTm="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vatel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349240" cy="5964309"/>
          </a:xfrm>
          <a:prstGeom prst="rect">
            <a:avLst/>
          </a:prstGeom>
        </p:spPr>
      </p:pic>
      <p:pic>
        <p:nvPicPr>
          <p:cNvPr id="3" name="Picture 2" descr="rag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6012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B2E2E"/>
                </a:solidFill>
                <a:latin typeface="Georgia"/>
              </a:defRPr>
            </a:pPr>
            <a:r>
              <a:t>Cavatelli al ragù beneventano — identità di collina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160520"/>
            <a:ext cx="1152144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2A1812"/>
                </a:solidFill>
                <a:latin typeface="Calibri"/>
              </a:defRPr>
            </a:pPr>
            <a:r>
              <a:t>Ingredienti tradizionali</a:t>
            </a:r>
            <a:br/>
            <a:r>
              <a:t>◆  Cavatelli (pasta fresca di semola e acqua, «strascinati» sul tagliere)</a:t>
            </a:r>
            <a:br/>
            <a:r>
              <a:t>◆  Ragù di carne mista (spesso manzo e maiale) con odori classici: sedano, carota, cipolla</a:t>
            </a:r>
            <a:br/>
            <a:r>
              <a:t>◆  Passata o polpa di pomodoro maturo, vino rosso, olio extravergine</a:t>
            </a:r>
            <a:br/>
            <a:r>
              <a:t>◆  Pecorino stagionato o ricotta salata, a seconda della famiglia e della festa</a:t>
            </a:r>
            <a:br/>
            <a:br/>
            <a:r>
              <a:t>Cucina contadina</a:t>
            </a:r>
            <a:br/>
            <a:r>
              <a:t>Il piatto nasce dalla lentezza: fuoco basso, pentola che «canta» per ore, profumi che attraversano la casa. È economia intelligente — trasformare tagli umili in sapore profondo — e convivialità: la tavola allungata, il pane che fa la scarpetta, il vino che accompagna senza coprire.</a:t>
            </a:r>
            <a:br/>
            <a:br/>
            <a:r>
              <a:t>◆  Accanto: cavatelli fatti in casa (foto) e ragù lento in cottura (immagine di riferimento da cucina italiana) — invito visivo ad assaporare Benevento anche con gli occhi.</a:t>
            </a:r>
          </a:p>
        </p:txBody>
      </p:sp>
    </p:spTree>
  </p:cSld>
  <p:clrMapOvr>
    <a:masterClrMapping/>
  </p:clrMapOvr>
  <p:transition spd="med" advTm="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8B2E2E"/>
              </a:gs>
              <a:gs pos="100000">
                <a:srgbClr val="D48A4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8C47A"/>
                </a:solidFill>
              </a:defRPr>
            </a:pPr>
            <a:r>
              <a:t>◆     ◆     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defRPr sz="3600" b="1">
                <a:solidFill>
                  <a:srgbClr val="FAF0E4"/>
                </a:solidFill>
                <a:latin typeface="Georgia"/>
              </a:defRPr>
            </a:pPr>
            <a:r>
              <a:t>Benevento non si visita soltanto… si assapora.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AF0E4"/>
                </a:solidFill>
                <a:latin typeface="Calibri"/>
              </a:defRPr>
            </a:pPr>
            <a:r>
              <a:t>Tra pietre antiche e filari moderni, tra cantine silenziose e cucine rumorose, la provincia di Benevento offre un racconto continuo: storico, umano, gastronomico.</a:t>
            </a:r>
            <a:br/>
            <a:br/>
            <a:r>
              <a:t>Chi arriva qui porta via non solo fotografie panoramiche, ma anche il sapore di un luogo che sa fermare l’orologio — almeno per un bicchiere, almeno per un piatto.</a:t>
            </a:r>
          </a:p>
        </p:txBody>
      </p:sp>
    </p:spTree>
  </p:cSld>
  <p:clrMapOvr>
    <a:masterClrMapping/>
  </p:clrMapOvr>
  <p:transition spd="med" advTm="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